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Proxima Nova"/>
      <p:regular r:id="rId11"/>
      <p:bold r:id="rId12"/>
      <p:italic r:id="rId13"/>
      <p:boldItalic r:id="rId14"/>
    </p:embeddedFont>
    <p:embeddedFont>
      <p:font typeface="SN Pro"/>
      <p:regular r:id="rId15"/>
      <p:bold r:id="rId16"/>
      <p:italic r:id="rId17"/>
      <p:boldItalic r:id="rId18"/>
    </p:embeddedFont>
    <p:embeddedFont>
      <p:font typeface="SN Pro ExtraLight"/>
      <p:regular r:id="rId19"/>
      <p:bold r:id="rId20"/>
      <p:italic r:id="rId21"/>
      <p:boldItalic r:id="rId22"/>
    </p:embeddedFont>
    <p:embeddedFont>
      <p:font typeface="SN Pro Black"/>
      <p:bold r:id="rId23"/>
      <p:boldItalic r:id="rId24"/>
    </p:embeddedFont>
    <p:embeddedFont>
      <p:font typeface="SN Pro Medium"/>
      <p:regular r:id="rId25"/>
      <p:bold r:id="rId26"/>
      <p:italic r:id="rId27"/>
      <p:boldItalic r:id="rId28"/>
    </p:embeddedFont>
    <p:embeddedFont>
      <p:font typeface="SN Pro ExtraBold"/>
      <p:bold r:id="rId29"/>
      <p:boldItalic r:id="rId30"/>
    </p:embeddedFont>
    <p:embeddedFont>
      <p:font typeface="SN Pro SemiBold"/>
      <p:regular r:id="rId31"/>
      <p:bold r:id="rId32"/>
      <p:italic r:id="rId33"/>
      <p:boldItalic r:id="rId34"/>
    </p:embeddedFont>
    <p:embeddedFont>
      <p:font typeface="Alfa Slab One"/>
      <p:regular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NProExtraLight-bold.fntdata"/><Relationship Id="rId22" Type="http://schemas.openxmlformats.org/officeDocument/2006/relationships/font" Target="fonts/SNProExtraLight-boldItalic.fntdata"/><Relationship Id="rId21" Type="http://schemas.openxmlformats.org/officeDocument/2006/relationships/font" Target="fonts/SNProExtraLight-italic.fntdata"/><Relationship Id="rId24" Type="http://schemas.openxmlformats.org/officeDocument/2006/relationships/font" Target="fonts/SNProBlack-boldItalic.fntdata"/><Relationship Id="rId23" Type="http://schemas.openxmlformats.org/officeDocument/2006/relationships/font" Target="fonts/SNProBlack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SNProMedium-bold.fntdata"/><Relationship Id="rId25" Type="http://schemas.openxmlformats.org/officeDocument/2006/relationships/font" Target="fonts/SNProMedium-regular.fntdata"/><Relationship Id="rId28" Type="http://schemas.openxmlformats.org/officeDocument/2006/relationships/font" Target="fonts/SNProMedium-boldItalic.fntdata"/><Relationship Id="rId27" Type="http://schemas.openxmlformats.org/officeDocument/2006/relationships/font" Target="fonts/SNPro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SNProExtra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NProSemiBold-regular.fntdata"/><Relationship Id="rId30" Type="http://schemas.openxmlformats.org/officeDocument/2006/relationships/font" Target="fonts/SNProExtraBold-boldItalic.fntdata"/><Relationship Id="rId11" Type="http://schemas.openxmlformats.org/officeDocument/2006/relationships/font" Target="fonts/ProximaNova-regular.fntdata"/><Relationship Id="rId33" Type="http://schemas.openxmlformats.org/officeDocument/2006/relationships/font" Target="fonts/SNProSemiBold-italic.fntdata"/><Relationship Id="rId10" Type="http://schemas.openxmlformats.org/officeDocument/2006/relationships/slide" Target="slides/slide5.xml"/><Relationship Id="rId32" Type="http://schemas.openxmlformats.org/officeDocument/2006/relationships/font" Target="fonts/SNProSemiBold-bold.fntdata"/><Relationship Id="rId13" Type="http://schemas.openxmlformats.org/officeDocument/2006/relationships/font" Target="fonts/ProximaNova-italic.fntdata"/><Relationship Id="rId35" Type="http://schemas.openxmlformats.org/officeDocument/2006/relationships/font" Target="fonts/AlfaSlabOne-regular.fntdata"/><Relationship Id="rId12" Type="http://schemas.openxmlformats.org/officeDocument/2006/relationships/font" Target="fonts/ProximaNova-bold.fntdata"/><Relationship Id="rId34" Type="http://schemas.openxmlformats.org/officeDocument/2006/relationships/font" Target="fonts/SNProSemiBold-boldItalic.fntdata"/><Relationship Id="rId15" Type="http://schemas.openxmlformats.org/officeDocument/2006/relationships/font" Target="fonts/SNPro-regular.fntdata"/><Relationship Id="rId14" Type="http://schemas.openxmlformats.org/officeDocument/2006/relationships/font" Target="fonts/ProximaNova-boldItalic.fntdata"/><Relationship Id="rId17" Type="http://schemas.openxmlformats.org/officeDocument/2006/relationships/font" Target="fonts/SNPro-italic.fntdata"/><Relationship Id="rId16" Type="http://schemas.openxmlformats.org/officeDocument/2006/relationships/font" Target="fonts/SNPro-bold.fntdata"/><Relationship Id="rId19" Type="http://schemas.openxmlformats.org/officeDocument/2006/relationships/font" Target="fonts/SNProExtraLight-regular.fntdata"/><Relationship Id="rId18" Type="http://schemas.openxmlformats.org/officeDocument/2006/relationships/font" Target="fonts/SNPro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aed130201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eaed130201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aed130201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eaed130201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d63bb60d0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d63bb60d0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d63bb60d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d63bb60d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p14:dur="100">
        <p:fade/>
      </p:transition>
    </mc:Choice>
    <mc:Fallback>
      <p:transition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l">
                <a:latin typeface="SN Pro Black"/>
                <a:ea typeface="SN Pro Black"/>
                <a:cs typeface="SN Pro Black"/>
                <a:sym typeface="SN Pro Black"/>
              </a:rPr>
              <a:t>EventEase</a:t>
            </a:r>
            <a:endParaRPr>
              <a:latin typeface="SN Pro Black"/>
              <a:ea typeface="SN Pro Black"/>
              <a:cs typeface="SN Pro Black"/>
              <a:sym typeface="SN Pro Black"/>
            </a:endParaRP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l">
                <a:latin typeface="SN Pro"/>
                <a:ea typeface="SN Pro"/>
                <a:cs typeface="SN Pro"/>
                <a:sym typeface="SN Pro"/>
              </a:rPr>
              <a:t>Enostavna organizacija</a:t>
            </a:r>
            <a:endParaRPr>
              <a:latin typeface="SN Pro"/>
              <a:ea typeface="SN Pro"/>
              <a:cs typeface="SN Pro"/>
              <a:sym typeface="SN Pro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134175" y="4092450"/>
            <a:ext cx="52554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" sz="1800">
                <a:solidFill>
                  <a:schemeClr val="dk2"/>
                </a:solidFill>
                <a:latin typeface="SN Pro ExtraLight"/>
                <a:ea typeface="SN Pro ExtraLight"/>
                <a:cs typeface="SN Pro ExtraLight"/>
                <a:sym typeface="SN Pro ExtraLight"/>
              </a:rPr>
              <a:t>Jure Antolič</a:t>
            </a:r>
            <a:endParaRPr sz="1800">
              <a:solidFill>
                <a:schemeClr val="dk2"/>
              </a:solidFill>
              <a:latin typeface="SN Pro ExtraLight"/>
              <a:ea typeface="SN Pro ExtraLight"/>
              <a:cs typeface="SN Pro ExtraLight"/>
              <a:sym typeface="SN Pro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" sz="1800">
                <a:solidFill>
                  <a:schemeClr val="dk2"/>
                </a:solidFill>
                <a:latin typeface="SN Pro ExtraLight"/>
                <a:ea typeface="SN Pro ExtraLight"/>
                <a:cs typeface="SN Pro ExtraLight"/>
                <a:sym typeface="SN Pro ExtraLight"/>
              </a:rPr>
              <a:t>Lenart Beršnak</a:t>
            </a:r>
            <a:endParaRPr sz="1800">
              <a:solidFill>
                <a:schemeClr val="dk2"/>
              </a:solidFill>
              <a:latin typeface="SN Pro ExtraLight"/>
              <a:ea typeface="SN Pro ExtraLight"/>
              <a:cs typeface="SN Pro ExtraLight"/>
              <a:sym typeface="SN Pro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" sz="1800">
                <a:solidFill>
                  <a:schemeClr val="dk2"/>
                </a:solidFill>
                <a:latin typeface="SN Pro ExtraLight"/>
                <a:ea typeface="SN Pro ExtraLight"/>
                <a:cs typeface="SN Pro ExtraLight"/>
                <a:sym typeface="SN Pro ExtraLight"/>
              </a:rPr>
              <a:t>Nikolaj Logar</a:t>
            </a:r>
            <a:endParaRPr sz="1800">
              <a:solidFill>
                <a:schemeClr val="dk2"/>
              </a:solidFill>
              <a:latin typeface="SN Pro ExtraLight"/>
              <a:ea typeface="SN Pro ExtraLight"/>
              <a:cs typeface="SN Pro ExtraLight"/>
              <a:sym typeface="SN Pro ExtraLight"/>
            </a:endParaRPr>
          </a:p>
        </p:txBody>
      </p:sp>
      <p:pic>
        <p:nvPicPr>
          <p:cNvPr id="59" name="Google Shape;59;p13" title="EventEase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0550" y="812525"/>
            <a:ext cx="882900" cy="88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">
                <a:latin typeface="SN Pro ExtraBold"/>
                <a:ea typeface="SN Pro ExtraBold"/>
                <a:cs typeface="SN Pro ExtraBold"/>
                <a:sym typeface="SN Pro ExtraBold"/>
              </a:rPr>
              <a:t>“Izkušnja” planiranja z drugimi </a:t>
            </a:r>
            <a:endParaRPr>
              <a:latin typeface="SN Pro ExtraBold"/>
              <a:ea typeface="SN Pro ExtraBold"/>
              <a:cs typeface="SN Pro ExtraBold"/>
              <a:sym typeface="SN Pro ExtraBold"/>
            </a:endParaRPr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152475"/>
            <a:ext cx="3527400" cy="368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sl"/>
              <a:t>Iskanje skupnega termina za dogodek </a:t>
            </a:r>
            <a:r>
              <a:rPr lang="sl"/>
              <a:t>ponavadi</a:t>
            </a:r>
            <a:r>
              <a:rPr lang="sl"/>
              <a:t> pomeni:</a:t>
            </a:r>
            <a:endParaRPr/>
          </a:p>
          <a:p>
            <a:pPr indent="-298450" lvl="0" marL="457200" rtl="0" algn="l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sl"/>
              <a:t>Neskončne niti sporočil v skupinah.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sl"/>
              <a:t>Zmeda: "Kdaj je kdo rekel, da lahko?"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sl"/>
              <a:t>Ročno prepisovanje v koledar.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sl"/>
              <a:t>Izguba časa za trivialno opravilo.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6" name="Google Shape;66;p14" title="instagram_dms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2350" y="1084738"/>
            <a:ext cx="2326091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">
                <a:latin typeface="SN Pro ExtraBold"/>
                <a:ea typeface="SN Pro ExtraBold"/>
                <a:cs typeface="SN Pro ExtraBold"/>
                <a:sym typeface="SN Pro ExtraBold"/>
              </a:rPr>
              <a:t>Problem popravi: EventEase</a:t>
            </a:r>
            <a:endParaRPr>
              <a:latin typeface="SN Pro ExtraBold"/>
              <a:ea typeface="SN Pro ExtraBold"/>
              <a:cs typeface="SN Pro ExtraBold"/>
              <a:sym typeface="SN Pro ExtraBold"/>
            </a:endParaRPr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l"/>
              <a:t>Brez registracije / Login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l"/>
              <a:t>Hitro in enostavna izbira terminov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l"/>
              <a:t>Izvoz termina v koledar</a:t>
            </a:r>
            <a:endParaRPr/>
          </a:p>
        </p:txBody>
      </p:sp>
      <p:pic>
        <p:nvPicPr>
          <p:cNvPr id="73" name="Google Shape;73;p15" title="EventEase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4350" y="1290038"/>
            <a:ext cx="2414325" cy="24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597" y="2571747"/>
            <a:ext cx="3416375" cy="168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/>
          <p:nvPr/>
        </p:nvSpPr>
        <p:spPr>
          <a:xfrm>
            <a:off x="457175" y="1386500"/>
            <a:ext cx="2571900" cy="2974200"/>
          </a:xfrm>
          <a:prstGeom prst="flowChartAlternateProcess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275800" y="387650"/>
            <a:ext cx="54567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" sz="3000">
                <a:solidFill>
                  <a:schemeClr val="accent3"/>
                </a:solidFill>
                <a:latin typeface="SN Pro ExtraBold"/>
                <a:ea typeface="SN Pro ExtraBold"/>
                <a:cs typeface="SN Pro ExtraBold"/>
                <a:sym typeface="SN Pro ExtraBold"/>
              </a:rPr>
              <a:t>Tehnološki sklad</a:t>
            </a:r>
            <a:endParaRPr sz="3000">
              <a:solidFill>
                <a:schemeClr val="accent3"/>
              </a:solidFill>
              <a:latin typeface="SN Pro ExtraBold"/>
              <a:ea typeface="SN Pro ExtraBold"/>
              <a:cs typeface="SN Pro ExtraBold"/>
              <a:sym typeface="SN Pro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descr="image.png" id="81" name="Google Shape;8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8762" y="1913855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/>
        </p:nvSpPr>
        <p:spPr>
          <a:xfrm>
            <a:off x="790150" y="2568175"/>
            <a:ext cx="20052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l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Zig backend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728663" y="2978274"/>
            <a:ext cx="20289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sl" sz="1200" u="none" cap="none" strike="noStrike">
                <a:solidFill>
                  <a:srgbClr val="94A3B8"/>
                </a:solidFill>
                <a:latin typeface="SN Pro SemiBold"/>
                <a:ea typeface="SN Pro SemiBold"/>
                <a:cs typeface="SN Pro SemiBold"/>
                <a:sym typeface="SN Pro SemiBold"/>
              </a:rPr>
              <a:t>Visoka zmogljivost in nizka poraba virov. Brezkompromisna hitrost delovanja.</a:t>
            </a:r>
            <a:endParaRPr sz="1100">
              <a:latin typeface="SN Pro SemiBold"/>
              <a:ea typeface="SN Pro SemiBold"/>
              <a:cs typeface="SN Pro SemiBold"/>
              <a:sym typeface="SN Pro SemiBold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3286050" y="1378875"/>
            <a:ext cx="2571900" cy="2974200"/>
          </a:xfrm>
          <a:prstGeom prst="flowChartAlternateProcess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3569400" y="2568175"/>
            <a:ext cx="20052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l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React 19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3557538" y="3008099"/>
            <a:ext cx="20289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l" sz="1200">
                <a:solidFill>
                  <a:srgbClr val="94A3B8"/>
                </a:solidFill>
                <a:latin typeface="SN Pro SemiBold"/>
                <a:ea typeface="SN Pro SemiBold"/>
                <a:cs typeface="SN Pro SemiBold"/>
                <a:sym typeface="SN Pro SemiBold"/>
              </a:rPr>
              <a:t>Sodoben interaktiven uporabniški vmesnik za vse naprave</a:t>
            </a:r>
            <a:endParaRPr sz="1100">
              <a:latin typeface="SN Pro SemiBold"/>
              <a:ea typeface="SN Pro SemiBold"/>
              <a:cs typeface="SN Pro SemiBold"/>
              <a:sym typeface="SN Pro SemiBold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6188800" y="1378875"/>
            <a:ext cx="2571900" cy="2974200"/>
          </a:xfrm>
          <a:prstGeom prst="flowChartAlternateProcess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6472150" y="2568175"/>
            <a:ext cx="20052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l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Docker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6550463" y="3107574"/>
            <a:ext cx="20289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l" sz="1200">
                <a:solidFill>
                  <a:srgbClr val="94A3B8"/>
                </a:solidFill>
                <a:latin typeface="SN Pro SemiBold"/>
                <a:ea typeface="SN Pro SemiBold"/>
                <a:cs typeface="SN Pro SemiBold"/>
                <a:sym typeface="SN Pro SemiBold"/>
              </a:rPr>
              <a:t>Celotna rešitev teče v izoliranem okolju pripravljena za namestitev</a:t>
            </a:r>
            <a:endParaRPr sz="1100">
              <a:latin typeface="SN Pro SemiBold"/>
              <a:ea typeface="SN Pro SemiBold"/>
              <a:cs typeface="SN Pro SemiBold"/>
              <a:sym typeface="SN Pro SemiBold"/>
            </a:endParaRPr>
          </a:p>
        </p:txBody>
      </p:sp>
      <p:pic>
        <p:nvPicPr>
          <p:cNvPr descr="image.png" id="90" name="Google Shape;9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7688" y="1913855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86609" y="1913855"/>
            <a:ext cx="535781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229700" y="1183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sl" sz="7200">
                <a:latin typeface="SN Pro Black"/>
                <a:ea typeface="SN Pro Black"/>
                <a:cs typeface="SN Pro Black"/>
                <a:sym typeface="SN Pro Black"/>
              </a:rPr>
              <a:t>Vprašanja?</a:t>
            </a:r>
            <a:endParaRPr sz="7200">
              <a:latin typeface="SN Pro Black"/>
              <a:ea typeface="SN Pro Black"/>
              <a:cs typeface="SN Pro Black"/>
              <a:sym typeface="SN Pro Black"/>
            </a:endParaRPr>
          </a:p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3047450" y="2263175"/>
            <a:ext cx="4861500" cy="19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sl">
                <a:latin typeface="SN Pro Medium"/>
                <a:ea typeface="SN Pro Medium"/>
                <a:cs typeface="SN Pro Medium"/>
                <a:sym typeface="SN Pro Medium"/>
              </a:rPr>
              <a:t>Hvala za vašo pozornost</a:t>
            </a:r>
            <a:endParaRPr>
              <a:latin typeface="SN Pro Medium"/>
              <a:ea typeface="SN Pro Medium"/>
              <a:cs typeface="SN Pro Medium"/>
              <a:sym typeface="SN Pro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